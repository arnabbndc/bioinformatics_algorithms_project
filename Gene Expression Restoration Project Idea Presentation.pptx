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31"/>
  </p:notesMasterIdLst>
  <p:sldIdLst>
    <p:sldId id="257" r:id="rId2"/>
    <p:sldId id="347" r:id="rId3"/>
    <p:sldId id="449" r:id="rId4"/>
    <p:sldId id="331" r:id="rId5"/>
    <p:sldId id="337" r:id="rId6"/>
    <p:sldId id="450" r:id="rId7"/>
    <p:sldId id="451" r:id="rId8"/>
    <p:sldId id="452" r:id="rId9"/>
    <p:sldId id="348" r:id="rId10"/>
    <p:sldId id="357" r:id="rId11"/>
    <p:sldId id="365" r:id="rId12"/>
    <p:sldId id="453" r:id="rId13"/>
    <p:sldId id="454" r:id="rId14"/>
    <p:sldId id="456" r:id="rId15"/>
    <p:sldId id="444" r:id="rId16"/>
    <p:sldId id="393" r:id="rId17"/>
    <p:sldId id="455" r:id="rId18"/>
    <p:sldId id="368" r:id="rId19"/>
    <p:sldId id="335" r:id="rId20"/>
    <p:sldId id="457" r:id="rId21"/>
    <p:sldId id="372" r:id="rId22"/>
    <p:sldId id="423" r:id="rId23"/>
    <p:sldId id="458" r:id="rId24"/>
    <p:sldId id="459" r:id="rId25"/>
    <p:sldId id="373" r:id="rId26"/>
    <p:sldId id="441" r:id="rId27"/>
    <p:sldId id="379" r:id="rId28"/>
    <p:sldId id="271" r:id="rId29"/>
    <p:sldId id="44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A513"/>
    <a:srgbClr val="4EAACA"/>
    <a:srgbClr val="58B6C0"/>
    <a:srgbClr val="FFCCCC"/>
    <a:srgbClr val="FF99CC"/>
    <a:srgbClr val="E4D2F2"/>
    <a:srgbClr val="613939"/>
    <a:srgbClr val="5C0000"/>
    <a:srgbClr val="684F00"/>
    <a:srgbClr val="55B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32" autoAdjust="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70EC-D6AF-4EA1-960B-2F924A2621F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02F7B-D11A-46BA-9FB8-B64753ECD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2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02F7B-D11A-46BA-9FB8-B64753ECD0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4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8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699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6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34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9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5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7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8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66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2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490752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59482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14FDA5-BD48-4396-BFE1-A7B28BAD287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34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3" r:id="rId12"/>
    <p:sldLayoutId id="2147483754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085" y="2380793"/>
            <a:ext cx="6058746" cy="46393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704357">
            <a:off x="10340828" y="-583958"/>
            <a:ext cx="2533665" cy="3806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3712"/>
            <a:ext cx="10058400" cy="294483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MACHINE LEARNING ASSISTED </a:t>
            </a:r>
            <a:br>
              <a:rPr lang="en-US" sz="4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US" sz="5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GENE EXPRESSION RESTORATION</a:t>
            </a:r>
            <a:b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US" sz="2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9405" y="758952"/>
            <a:ext cx="329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CSE 6406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6982" y="4857905"/>
            <a:ext cx="97886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Arnob</a:t>
            </a:r>
            <a:r>
              <a:rPr lang="en-US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20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Saha</a:t>
            </a:r>
            <a:r>
              <a:rPr lang="en-US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20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Ankon</a:t>
            </a:r>
            <a:r>
              <a:rPr lang="en-US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– 1024052111</a:t>
            </a:r>
          </a:p>
          <a:p>
            <a:pPr algn="ctr"/>
            <a:r>
              <a:rPr lang="en-US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Arnab </a:t>
            </a:r>
            <a:r>
              <a:rPr lang="en-US" sz="20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Bhattacharjee</a:t>
            </a:r>
            <a:r>
              <a:rPr lang="en-US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- 1024052106</a:t>
            </a:r>
          </a:p>
          <a:p>
            <a:pPr algn="ctr"/>
            <a:endParaRPr lang="en-US" sz="20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6155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Discussion and Future Work</a:t>
            </a:r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6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Discussion and Future Work</a:t>
            </a:r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3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6" y="369455"/>
            <a:ext cx="574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What is Gene Expression?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2727" y="1873169"/>
            <a:ext cx="57882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 expression is the process by which genetic information from a gene is used to produce a functional product, usually a protein.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stages: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Transcription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388" y="1328352"/>
            <a:ext cx="4582164" cy="45059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 flipH="1">
            <a:off x="61761" y="6440542"/>
            <a:ext cx="1199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https://handsomescienceteacher.com/Online-science-classes-kids/wp-content/uploads/2022/10/transcription-and-translation.jpg</a:t>
            </a:r>
          </a:p>
        </p:txBody>
      </p:sp>
    </p:spTree>
    <p:extLst>
      <p:ext uri="{BB962C8B-B14F-4D97-AF65-F5344CB8AC3E}">
        <p14:creationId xmlns:p14="http://schemas.microsoft.com/office/powerpoint/2010/main" val="321571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524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 Expression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1199" y="1726986"/>
            <a:ext cx="55933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 expression is essential for cellular functions, as proteins control most cellular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Example: In muscle cells, genes responsible for muscle contraction are highly expressed, while in nerve cells, genes for signaling and neurotransmitter function dominate.</a:t>
            </a:r>
          </a:p>
          <a:p>
            <a:pPr lvl="1"/>
            <a:endParaRPr lang="en-US" sz="2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437" y="1336015"/>
            <a:ext cx="4458322" cy="40963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61761" y="6440542"/>
            <a:ext cx="1199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https://static.vecteezy.com/system/resources/previews/029/348/655/non_2x/skeletal-muscle-relaxation-and-contraction</a:t>
            </a:r>
          </a:p>
        </p:txBody>
      </p:sp>
    </p:spTree>
    <p:extLst>
      <p:ext uri="{BB962C8B-B14F-4D97-AF65-F5344CB8AC3E}">
        <p14:creationId xmlns:p14="http://schemas.microsoft.com/office/powerpoint/2010/main" val="353849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524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 Expression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1199" y="1726986"/>
            <a:ext cx="559334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 expression can be used to determine whether a cell is healthy or diseased.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Cell’s state: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Source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Target state.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 changes between the source and target states occur because of the activation and repression of some of the genes present in the cell.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61761" y="6440542"/>
            <a:ext cx="11996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https://static.vecteezy.com/system/resources/previews/046/740/056/non_2x/normal-cell-vs-cancer-cell-loss-of-normal-growth-control-of-cell-healthy-tissue-and-tumor-illustration-vector.jpg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205" y="1617305"/>
            <a:ext cx="5698752" cy="37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5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524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 Expression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1199" y="1726986"/>
            <a:ext cx="55933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Identification of the genes that drive the transformation from the source state to the target state is important, as this transformation enables early detection of diseases like cancer and tumors.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61761" y="6440542"/>
            <a:ext cx="11996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https://static.vecteezy.com/system/resources/previews/046/740/056/non_2x/normal-cell-vs-cancer-cell-loss-of-normal-growth-control-of-cell-healthy-tissue-and-tumor-illustration-vector.jpg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205" y="1617305"/>
            <a:ext cx="5698752" cy="37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7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524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 Expression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1199" y="1726986"/>
            <a:ext cx="55933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Identification of the </a:t>
            </a:r>
            <a:r>
              <a:rPr lang="en-US" sz="2400" dirty="0">
                <a:solidFill>
                  <a:srgbClr val="58B6C0"/>
                </a:solidFill>
              </a:rPr>
              <a:t>genes that drive the transformation from the source state to the target state </a:t>
            </a:r>
            <a:r>
              <a:rPr lang="en-US" sz="2400" dirty="0"/>
              <a:t>is important, as this transformation enables early detection of diseases like cancer and tumors.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61761" y="6440542"/>
            <a:ext cx="11996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https://static.vecteezy.com/system/resources/previews/046/740/056/non_2x/normal-cell-vs-cancer-cell-loss-of-normal-growth-control-of-cell-healthy-tissue-and-tumor-illustration-vector.jpg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205" y="1617305"/>
            <a:ext cx="5698752" cy="37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7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6" y="369455"/>
            <a:ext cx="718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 Regulatory Network (GRN)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92729" y="1726985"/>
            <a:ext cx="6012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represent the complex relationships between genes and transcription factors that regulate and determine cell behavior using a gene regulatory network (GRN)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54" y="1512529"/>
            <a:ext cx="1962424" cy="22958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455" y="4440618"/>
            <a:ext cx="1600423" cy="14194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flipH="1">
            <a:off x="61761" y="6440542"/>
            <a:ext cx="11996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https://www.researchgate.net/publication/368589668/figure/fig2/AS:11431281125645060@1678379963003/The-topology-of-the-gene-regulatory-network-Note-The-dark-green-dots-indicate.jpg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89848" y="967098"/>
            <a:ext cx="1395662" cy="5454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Gene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89848" y="3946551"/>
            <a:ext cx="1826332" cy="876482"/>
          </a:xfrm>
          <a:prstGeom prst="roundRect">
            <a:avLst>
              <a:gd name="adj" fmla="val 4226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Regulatory</a:t>
            </a:r>
          </a:p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Relation</a:t>
            </a:r>
          </a:p>
        </p:txBody>
      </p:sp>
      <p:cxnSp>
        <p:nvCxnSpPr>
          <p:cNvPr id="16" name="Curved Connector 15"/>
          <p:cNvCxnSpPr/>
          <p:nvPr/>
        </p:nvCxnSpPr>
        <p:spPr>
          <a:xfrm rot="5400000">
            <a:off x="9043810" y="1303352"/>
            <a:ext cx="417095" cy="345043"/>
          </a:xfrm>
          <a:prstGeom prst="curvedConnector3">
            <a:avLst>
              <a:gd name="adj1" fmla="val 1923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/>
          <p:nvPr/>
        </p:nvCxnSpPr>
        <p:spPr>
          <a:xfrm rot="5400000">
            <a:off x="9068010" y="4432825"/>
            <a:ext cx="417095" cy="345043"/>
          </a:xfrm>
          <a:prstGeom prst="curvedConnector3">
            <a:avLst>
              <a:gd name="adj1" fmla="val 1538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4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Discussion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03403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72700" y="0"/>
            <a:ext cx="1303020" cy="6858000"/>
          </a:xfrm>
          <a:prstGeom prst="rect">
            <a:avLst/>
          </a:prstGeom>
          <a:solidFill>
            <a:srgbClr val="55B1C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172700" y="160020"/>
            <a:ext cx="1303020" cy="609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6" y="369455"/>
            <a:ext cx="11290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GAGER: gene regulatory network assisted gene expression restoration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82" y="3076144"/>
            <a:ext cx="110744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paper presents a method for </a:t>
            </a:r>
            <a:r>
              <a:rPr lang="en-US" sz="2400" dirty="0">
                <a:solidFill>
                  <a:srgbClr val="00B050"/>
                </a:solidFill>
              </a:rPr>
              <a:t>identifying key transcription factors (TFs) </a:t>
            </a:r>
            <a:r>
              <a:rPr lang="en-US" sz="2400" dirty="0"/>
              <a:t>whose perturbation can restore gene expression from a source state to target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authors assume a </a:t>
            </a:r>
            <a:r>
              <a:rPr lang="en-US" sz="2400" dirty="0">
                <a:solidFill>
                  <a:srgbClr val="00B0F0"/>
                </a:solidFill>
              </a:rPr>
              <a:t>linear relationship </a:t>
            </a:r>
            <a:r>
              <a:rPr lang="en-US" sz="2400" dirty="0"/>
              <a:t>between genes.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943" y="1875509"/>
            <a:ext cx="10520218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Chowdhury, M.Z.U.S., Any, S.S., Samee, M.A.H. and Rahman, A. </a:t>
            </a:r>
            <a:r>
              <a:rPr lang="en-US" sz="2200" dirty="0">
                <a:solidFill>
                  <a:srgbClr val="00B0F0"/>
                </a:solidFill>
              </a:rPr>
              <a:t>GAGER: gene regulatory network assisted gene expression restoration</a:t>
            </a:r>
            <a:r>
              <a:rPr lang="en-US" sz="2200" dirty="0"/>
              <a:t>. </a:t>
            </a:r>
            <a:r>
              <a:rPr lang="en-US" sz="2200" dirty="0" err="1"/>
              <a:t>bioRxiv</a:t>
            </a:r>
            <a:r>
              <a:rPr lang="en-US" sz="2200" dirty="0"/>
              <a:t>, pp.2024-11.</a:t>
            </a:r>
          </a:p>
        </p:txBody>
      </p:sp>
    </p:spTree>
    <p:extLst>
      <p:ext uri="{BB962C8B-B14F-4D97-AF65-F5344CB8AC3E}">
        <p14:creationId xmlns:p14="http://schemas.microsoft.com/office/powerpoint/2010/main" val="5799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72700" y="0"/>
            <a:ext cx="1303020" cy="6858000"/>
          </a:xfrm>
          <a:prstGeom prst="rect">
            <a:avLst/>
          </a:prstGeom>
          <a:solidFill>
            <a:srgbClr val="55B1C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172700" y="160020"/>
            <a:ext cx="1303020" cy="609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6" y="369455"/>
            <a:ext cx="11290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Relationship between regulatory pattern of gene expression level and gene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82" y="3076144"/>
            <a:ext cx="78566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paper shows that there are mainly four types of patterns between a TF and its regulated genes.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there is a </a:t>
            </a:r>
            <a:r>
              <a:rPr lang="en-US" sz="2400" dirty="0">
                <a:solidFill>
                  <a:srgbClr val="00B0F0"/>
                </a:solidFill>
              </a:rPr>
              <a:t>strong correlation between a TF and its regulated gene</a:t>
            </a:r>
            <a:r>
              <a:rPr lang="en-US" sz="2400" dirty="0"/>
              <a:t>, only then they exhibit a linear relationship.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943" y="1875509"/>
            <a:ext cx="10520218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Inoue, M. and </a:t>
            </a:r>
            <a:r>
              <a:rPr lang="en-US" sz="2200" dirty="0" err="1"/>
              <a:t>Horimoto</a:t>
            </a:r>
            <a:r>
              <a:rPr lang="en-US" sz="2200" dirty="0"/>
              <a:t>, K. </a:t>
            </a:r>
            <a:r>
              <a:rPr lang="en-US" sz="2200" dirty="0">
                <a:solidFill>
                  <a:srgbClr val="00B0F0"/>
                </a:solidFill>
              </a:rPr>
              <a:t>Relationship between regulatory pattern of gene expression level and gene function.</a:t>
            </a:r>
            <a:r>
              <a:rPr lang="en-US" sz="2200" dirty="0"/>
              <a:t> </a:t>
            </a:r>
            <a:r>
              <a:rPr lang="en-US" sz="2200" dirty="0" err="1"/>
              <a:t>PLoS</a:t>
            </a:r>
            <a:r>
              <a:rPr lang="en-US" sz="2200" dirty="0"/>
              <a:t> One. 2017 May 11;12(5):e0177430.</a:t>
            </a:r>
          </a:p>
        </p:txBody>
      </p:sp>
      <p:sp>
        <p:nvSpPr>
          <p:cNvPr id="13" name="TextBox 12"/>
          <p:cNvSpPr txBox="1"/>
          <p:nvPr/>
        </p:nvSpPr>
        <p:spPr>
          <a:xfrm flipH="1">
            <a:off x="61761" y="6440542"/>
            <a:ext cx="1199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https://pmc.ncbi.nlm.nih.gov/articles/PMC5426767/pdf/pone.0177430.pdf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412" y="3020383"/>
            <a:ext cx="2866575" cy="283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99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72700" y="0"/>
            <a:ext cx="1303020" cy="6858000"/>
          </a:xfrm>
          <a:prstGeom prst="rect">
            <a:avLst/>
          </a:prstGeom>
          <a:solidFill>
            <a:srgbClr val="55B1C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172700" y="160020"/>
            <a:ext cx="1303020" cy="609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6" y="369455"/>
            <a:ext cx="11290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CellOracle</a:t>
            </a:r>
            <a:r>
              <a:rPr lang="en-US" sz="3600" dirty="0"/>
              <a:t>: Dissecting cell identity via</a:t>
            </a:r>
          </a:p>
          <a:p>
            <a:r>
              <a:rPr lang="en-US" sz="3600" dirty="0"/>
              <a:t>network inference and in </a:t>
            </a:r>
            <a:r>
              <a:rPr lang="en-US" sz="3600" dirty="0" err="1"/>
              <a:t>silico</a:t>
            </a:r>
            <a:r>
              <a:rPr lang="en-US" sz="3600" dirty="0"/>
              <a:t> gene perturbation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82" y="3076144"/>
            <a:ext cx="99966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CellOracle</a:t>
            </a:r>
            <a:r>
              <a:rPr lang="en-US" sz="2400" dirty="0"/>
              <a:t> simulates changes in cell state in response to TF perturbations.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uses custom GRN modeling to simulate global downstream shifts in gene expression following knockout (KO) or overexpression of TFs.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considers cell identity as a </a:t>
            </a:r>
            <a:r>
              <a:rPr lang="en-US" sz="2400" dirty="0">
                <a:solidFill>
                  <a:srgbClr val="00B050"/>
                </a:solidFill>
              </a:rPr>
              <a:t>dynamic property</a:t>
            </a:r>
            <a:r>
              <a:rPr lang="en-US" sz="24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943" y="1875509"/>
            <a:ext cx="10520218" cy="11079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 err="1"/>
              <a:t>Kamimoto</a:t>
            </a:r>
            <a:r>
              <a:rPr lang="en-US" sz="2200" dirty="0"/>
              <a:t>, K., </a:t>
            </a:r>
            <a:r>
              <a:rPr lang="en-US" sz="2200" dirty="0" err="1"/>
              <a:t>Stringa</a:t>
            </a:r>
            <a:r>
              <a:rPr lang="en-US" sz="2200" dirty="0"/>
              <a:t>, B., Hoffmann, C.M., Jindal, K., </a:t>
            </a:r>
            <a:r>
              <a:rPr lang="en-US" sz="2200" dirty="0" err="1"/>
              <a:t>Solnica-Krezel</a:t>
            </a:r>
            <a:r>
              <a:rPr lang="en-US" sz="2200" dirty="0"/>
              <a:t>, L. and Morris, S.A., 2023. </a:t>
            </a:r>
            <a:r>
              <a:rPr lang="en-US" sz="2200" dirty="0">
                <a:solidFill>
                  <a:srgbClr val="00B0F0"/>
                </a:solidFill>
              </a:rPr>
              <a:t>Dissecting cell identity via network inference and in </a:t>
            </a:r>
            <a:r>
              <a:rPr lang="en-US" sz="2200" dirty="0" err="1">
                <a:solidFill>
                  <a:srgbClr val="00B0F0"/>
                </a:solidFill>
              </a:rPr>
              <a:t>silico</a:t>
            </a:r>
            <a:r>
              <a:rPr lang="en-US" sz="2200" dirty="0">
                <a:solidFill>
                  <a:srgbClr val="00B0F0"/>
                </a:solidFill>
              </a:rPr>
              <a:t> gene perturbation</a:t>
            </a:r>
            <a:r>
              <a:rPr lang="en-US" sz="2200" dirty="0"/>
              <a:t>. </a:t>
            </a:r>
            <a:r>
              <a:rPr lang="en-US" sz="2200" i="1" dirty="0"/>
              <a:t>Nature</a:t>
            </a:r>
            <a:r>
              <a:rPr lang="en-US" sz="2200" dirty="0"/>
              <a:t>, </a:t>
            </a:r>
            <a:r>
              <a:rPr lang="en-US" sz="2200" i="1" dirty="0"/>
              <a:t>614</a:t>
            </a:r>
            <a:r>
              <a:rPr lang="en-US" sz="2200" dirty="0"/>
              <a:t>(7949), pp.742-75</a:t>
            </a:r>
          </a:p>
        </p:txBody>
      </p:sp>
      <p:sp>
        <p:nvSpPr>
          <p:cNvPr id="13" name="TextBox 12"/>
          <p:cNvSpPr txBox="1"/>
          <p:nvPr/>
        </p:nvSpPr>
        <p:spPr>
          <a:xfrm flipH="1">
            <a:off x="61761" y="6440542"/>
            <a:ext cx="1199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https://www.nature.com/articles/s41586-022-05688-9</a:t>
            </a:r>
          </a:p>
        </p:txBody>
      </p:sp>
    </p:spTree>
    <p:extLst>
      <p:ext uri="{BB962C8B-B14F-4D97-AF65-F5344CB8AC3E}">
        <p14:creationId xmlns:p14="http://schemas.microsoft.com/office/powerpoint/2010/main" val="426367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72700" y="0"/>
            <a:ext cx="1303020" cy="6858000"/>
          </a:xfrm>
          <a:prstGeom prst="rect">
            <a:avLst/>
          </a:prstGeom>
          <a:solidFill>
            <a:srgbClr val="55B1C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172700" y="160020"/>
            <a:ext cx="1303020" cy="609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6" y="369455"/>
            <a:ext cx="11290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Non-linear dynamic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943" y="1875509"/>
            <a:ext cx="10520218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Frank, T.D., </a:t>
            </a:r>
            <a:r>
              <a:rPr lang="en-US" sz="2400" dirty="0" err="1"/>
              <a:t>Cavadas</a:t>
            </a:r>
            <a:r>
              <a:rPr lang="en-US" sz="2400" dirty="0"/>
              <a:t>, M.A., Nguyen, L.K. and Cheong, A., 2016. </a:t>
            </a:r>
            <a:r>
              <a:rPr lang="en-US" sz="2400" dirty="0">
                <a:solidFill>
                  <a:srgbClr val="00B0F0"/>
                </a:solidFill>
              </a:rPr>
              <a:t>Non-linear dynamics in transcriptional regulation: biological logic gates</a:t>
            </a:r>
            <a:r>
              <a:rPr lang="en-US" sz="2400" dirty="0"/>
              <a:t>. In </a:t>
            </a:r>
            <a:r>
              <a:rPr lang="en-US" sz="2400" i="1" dirty="0"/>
              <a:t>Nonlinear Dynamics in Biological Systems</a:t>
            </a:r>
            <a:r>
              <a:rPr lang="en-US" sz="2400" dirty="0"/>
              <a:t> (pp. 43-62). Cham: Springer International Publishing.</a:t>
            </a:r>
            <a:endParaRPr lang="en-US" sz="2200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61761" y="6440542"/>
            <a:ext cx="11996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https://link.springer.com/chapter/10.1007/978-3-319-33054-9_3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943" y="3959041"/>
            <a:ext cx="1052021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Steinacher</a:t>
            </a:r>
            <a:r>
              <a:rPr lang="en-US" sz="2400" dirty="0"/>
              <a:t>, A., Bates, D.G., </a:t>
            </a:r>
            <a:r>
              <a:rPr lang="en-US" sz="2400" dirty="0" err="1"/>
              <a:t>Akman</a:t>
            </a:r>
            <a:r>
              <a:rPr lang="en-US" sz="2400" dirty="0"/>
              <a:t>, O.E. and </a:t>
            </a:r>
            <a:r>
              <a:rPr lang="en-US" sz="2400" dirty="0" err="1"/>
              <a:t>Soyer</a:t>
            </a:r>
            <a:r>
              <a:rPr lang="en-US" sz="2400" dirty="0"/>
              <a:t>, O.S., 2016. </a:t>
            </a:r>
            <a:r>
              <a:rPr lang="en-US" sz="2400" dirty="0">
                <a:solidFill>
                  <a:srgbClr val="00B0F0"/>
                </a:solidFill>
              </a:rPr>
              <a:t>Nonlinear dynamics in gene regulation promote robustness and </a:t>
            </a:r>
            <a:r>
              <a:rPr lang="en-US" sz="2400" dirty="0" err="1">
                <a:solidFill>
                  <a:srgbClr val="00B0F0"/>
                </a:solidFill>
              </a:rPr>
              <a:t>evolvability</a:t>
            </a:r>
            <a:r>
              <a:rPr lang="en-US" sz="2400" dirty="0">
                <a:solidFill>
                  <a:srgbClr val="00B0F0"/>
                </a:solidFill>
              </a:rPr>
              <a:t> of gene expression levels</a:t>
            </a:r>
            <a:r>
              <a:rPr lang="en-US" sz="2400" dirty="0"/>
              <a:t>. </a:t>
            </a:r>
            <a:r>
              <a:rPr lang="en-US" sz="2400" i="1" dirty="0" err="1"/>
              <a:t>PloS</a:t>
            </a:r>
            <a:r>
              <a:rPr lang="en-US" sz="2400" i="1" dirty="0"/>
              <a:t> one</a:t>
            </a:r>
            <a:r>
              <a:rPr lang="en-US" sz="2400" dirty="0"/>
              <a:t>, </a:t>
            </a:r>
            <a:r>
              <a:rPr lang="en-US" sz="2400" i="1" dirty="0"/>
              <a:t>11</a:t>
            </a:r>
            <a:r>
              <a:rPr lang="en-US" sz="2400" dirty="0"/>
              <a:t>(4), p.e0153295.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7027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72700" y="0"/>
            <a:ext cx="1303020" cy="6858000"/>
          </a:xfrm>
          <a:prstGeom prst="rect">
            <a:avLst/>
          </a:prstGeom>
          <a:solidFill>
            <a:srgbClr val="55B1C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172700" y="160020"/>
            <a:ext cx="1303020" cy="609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7" y="369455"/>
            <a:ext cx="7440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Limitation in ‘GAGER’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727" y="1274169"/>
            <a:ext cx="112562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relationship between a TF and its target gene is not always linear.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Some TFs work in a cooperative manner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Regulatory networks often involve feedback mechanisms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Gal4</a:t>
            </a:r>
            <a:r>
              <a:rPr lang="en-US" sz="2400" dirty="0"/>
              <a:t> (TF in yeast) regulates genes involved in galactose metabolism. The relationship between </a:t>
            </a:r>
            <a:r>
              <a:rPr lang="en-US" sz="2400" b="1" dirty="0"/>
              <a:t>Gal4</a:t>
            </a:r>
            <a:r>
              <a:rPr lang="en-US" sz="2400" dirty="0"/>
              <a:t> and gene expression can be approximately linear at low concentrations of Gal4. However, at high concentrations, the response becomes non-linear.</a:t>
            </a:r>
          </a:p>
        </p:txBody>
      </p:sp>
    </p:spTree>
    <p:extLst>
      <p:ext uri="{BB962C8B-B14F-4D97-AF65-F5344CB8AC3E}">
        <p14:creationId xmlns:p14="http://schemas.microsoft.com/office/powerpoint/2010/main" val="2216095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Discussion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4744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05865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6" y="369455"/>
            <a:ext cx="718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Our Objective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92728" y="1726985"/>
            <a:ext cx="80939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Identification of the genes or TFs required to restore gene expression.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are following the "GAGER" paper, but we assume that genes may have complex relationships rather than a linear one. Our goal is to identify these relationships and the relevant genes or TFs to restore gene expression.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476" y="2854679"/>
            <a:ext cx="1962424" cy="229584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15996" y="2063290"/>
            <a:ext cx="1395662" cy="79138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Target Gene</a:t>
            </a:r>
          </a:p>
        </p:txBody>
      </p:sp>
      <p:cxnSp>
        <p:nvCxnSpPr>
          <p:cNvPr id="16" name="Curved Connector 15"/>
          <p:cNvCxnSpPr/>
          <p:nvPr/>
        </p:nvCxnSpPr>
        <p:spPr>
          <a:xfrm rot="5400000">
            <a:off x="9522708" y="3290120"/>
            <a:ext cx="580255" cy="35389"/>
          </a:xfrm>
          <a:prstGeom prst="curvedConnector3">
            <a:avLst>
              <a:gd name="adj1" fmla="val 4723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318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Discussion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07164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7" y="369455"/>
            <a:ext cx="1076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251634"/>
              </p:ext>
            </p:extLst>
          </p:nvPr>
        </p:nvGraphicFramePr>
        <p:xfrm>
          <a:off x="627602" y="1624736"/>
          <a:ext cx="1888108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2027">
                  <a:extLst>
                    <a:ext uri="{9D8B030D-6E8A-4147-A177-3AD203B41FA5}">
                      <a16:colId xmlns:a16="http://schemas.microsoft.com/office/drawing/2014/main" val="123228958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3514433516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2130721428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981942673"/>
                    </a:ext>
                  </a:extLst>
                </a:gridCol>
              </a:tblGrid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733805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29139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04995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912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454658"/>
              </p:ext>
            </p:extLst>
          </p:nvPr>
        </p:nvGraphicFramePr>
        <p:xfrm>
          <a:off x="838200" y="1825625"/>
          <a:ext cx="1888108" cy="14630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472027">
                  <a:extLst>
                    <a:ext uri="{9D8B030D-6E8A-4147-A177-3AD203B41FA5}">
                      <a16:colId xmlns:a16="http://schemas.microsoft.com/office/drawing/2014/main" val="1126774021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2358157141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3502989104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950666769"/>
                    </a:ext>
                  </a:extLst>
                </a:gridCol>
              </a:tblGrid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450802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504274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173597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3024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98482" y="3362596"/>
            <a:ext cx="15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Expression Matrix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36473" y="1789166"/>
            <a:ext cx="1567543" cy="1806276"/>
            <a:chOff x="2972336" y="1825625"/>
            <a:chExt cx="1567543" cy="1806276"/>
          </a:xfrm>
        </p:grpSpPr>
        <p:grpSp>
          <p:nvGrpSpPr>
            <p:cNvPr id="11" name="Group 10"/>
            <p:cNvGrpSpPr/>
            <p:nvPr/>
          </p:nvGrpSpPr>
          <p:grpSpPr>
            <a:xfrm>
              <a:off x="3153748" y="1825625"/>
              <a:ext cx="833320" cy="1196102"/>
              <a:chOff x="3153748" y="1825625"/>
              <a:chExt cx="833320" cy="1196102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3424335" y="1825625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3153748" y="2255390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716481" y="2255389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153748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716481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Straight Arrow Connector 17"/>
              <p:cNvCxnSpPr>
                <a:stCxn id="13" idx="4"/>
                <a:endCxn id="14" idx="7"/>
              </p:cNvCxnSpPr>
              <p:nvPr/>
            </p:nvCxnSpPr>
            <p:spPr>
              <a:xfrm flipH="1">
                <a:off x="3384708" y="2127380"/>
                <a:ext cx="174921" cy="172201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stCxn id="14" idx="4"/>
                <a:endCxn id="16" idx="0"/>
              </p:cNvCxnSpPr>
              <p:nvPr/>
            </p:nvCxnSpPr>
            <p:spPr>
              <a:xfrm>
                <a:off x="3289042" y="2557145"/>
                <a:ext cx="0" cy="162827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13" idx="4"/>
                <a:endCxn id="15" idx="1"/>
              </p:cNvCxnSpPr>
              <p:nvPr/>
            </p:nvCxnSpPr>
            <p:spPr>
              <a:xfrm>
                <a:off x="3559629" y="2127380"/>
                <a:ext cx="196479" cy="1722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15" idx="2"/>
                <a:endCxn id="14" idx="6"/>
              </p:cNvCxnSpPr>
              <p:nvPr/>
            </p:nvCxnSpPr>
            <p:spPr>
              <a:xfrm flipH="1">
                <a:off x="3424335" y="2406267"/>
                <a:ext cx="292146" cy="1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14" idx="5"/>
                <a:endCxn id="17" idx="1"/>
              </p:cNvCxnSpPr>
              <p:nvPr/>
            </p:nvCxnSpPr>
            <p:spPr>
              <a:xfrm>
                <a:off x="3384708" y="2512954"/>
                <a:ext cx="371400" cy="251209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2972336" y="3201014"/>
              <a:ext cx="15675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GRN and Difference Network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2848757" y="2563934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4604016" y="3624206"/>
            <a:ext cx="2411238" cy="1695879"/>
            <a:chOff x="4331171" y="2043404"/>
            <a:chExt cx="2411238" cy="1695879"/>
          </a:xfrm>
        </p:grpSpPr>
        <p:sp>
          <p:nvSpPr>
            <p:cNvPr id="25" name="Rounded Rectangle 24"/>
            <p:cNvSpPr/>
            <p:nvPr/>
          </p:nvSpPr>
          <p:spPr>
            <a:xfrm>
              <a:off x="4539879" y="2043404"/>
              <a:ext cx="1296955" cy="978323"/>
            </a:xfrm>
            <a:prstGeom prst="round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 rot="16200000">
              <a:off x="4868373" y="2052277"/>
              <a:ext cx="623679" cy="986701"/>
              <a:chOff x="3989965" y="4562605"/>
              <a:chExt cx="833320" cy="1196102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4260552" y="4562605"/>
                <a:ext cx="270587" cy="301755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989965" y="4992370"/>
                <a:ext cx="270587" cy="30175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552698" y="4992369"/>
                <a:ext cx="270587" cy="30175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3989965" y="5456952"/>
                <a:ext cx="270587" cy="301755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4552698" y="5456952"/>
                <a:ext cx="270587" cy="301755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Straight Arrow Connector 32"/>
              <p:cNvCxnSpPr>
                <a:stCxn id="28" idx="4"/>
                <a:endCxn id="29" idx="7"/>
              </p:cNvCxnSpPr>
              <p:nvPr/>
            </p:nvCxnSpPr>
            <p:spPr>
              <a:xfrm flipH="1">
                <a:off x="4220925" y="4864360"/>
                <a:ext cx="174921" cy="17220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29" idx="4"/>
                <a:endCxn id="31" idx="0"/>
              </p:cNvCxnSpPr>
              <p:nvPr/>
            </p:nvCxnSpPr>
            <p:spPr>
              <a:xfrm>
                <a:off x="4125259" y="5294125"/>
                <a:ext cx="0" cy="162827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4395846" y="4864361"/>
                <a:ext cx="196479" cy="1722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>
                <a:stCxn id="30" idx="4"/>
                <a:endCxn id="32" idx="0"/>
              </p:cNvCxnSpPr>
              <p:nvPr/>
            </p:nvCxnSpPr>
            <p:spPr>
              <a:xfrm rot="5400000">
                <a:off x="4606578" y="5375538"/>
                <a:ext cx="162828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9" idx="5"/>
                <a:endCxn id="32" idx="1"/>
              </p:cNvCxnSpPr>
              <p:nvPr/>
            </p:nvCxnSpPr>
            <p:spPr>
              <a:xfrm>
                <a:off x="4220925" y="5249934"/>
                <a:ext cx="371400" cy="2512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Rectangle 26"/>
            <p:cNvSpPr/>
            <p:nvPr/>
          </p:nvSpPr>
          <p:spPr>
            <a:xfrm>
              <a:off x="4331171" y="3139119"/>
              <a:ext cx="2411238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Estimation of Gene Expression</a:t>
              </a:r>
            </a:p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Regulatory Coefficients Assuming </a:t>
              </a:r>
            </a:p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Non-linear relationship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676688" y="3693445"/>
            <a:ext cx="1444420" cy="90908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TFs and genes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8619756" y="3509195"/>
            <a:ext cx="1567543" cy="1582345"/>
            <a:chOff x="8633120" y="1914903"/>
            <a:chExt cx="1567543" cy="1582345"/>
          </a:xfrm>
        </p:grpSpPr>
        <p:grpSp>
          <p:nvGrpSpPr>
            <p:cNvPr id="40" name="Group 39"/>
            <p:cNvGrpSpPr/>
            <p:nvPr/>
          </p:nvGrpSpPr>
          <p:grpSpPr>
            <a:xfrm>
              <a:off x="8633120" y="1914903"/>
              <a:ext cx="833320" cy="1196102"/>
              <a:chOff x="3153748" y="1825625"/>
              <a:chExt cx="833320" cy="1196102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424335" y="1825625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153748" y="2255390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716481" y="2255389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3153748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716481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Straight Arrow Connector 46"/>
              <p:cNvCxnSpPr>
                <a:stCxn id="42" idx="4"/>
                <a:endCxn id="43" idx="7"/>
              </p:cNvCxnSpPr>
              <p:nvPr/>
            </p:nvCxnSpPr>
            <p:spPr>
              <a:xfrm flipH="1">
                <a:off x="3384708" y="2127380"/>
                <a:ext cx="174921" cy="17220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stCxn id="43" idx="4"/>
                <a:endCxn id="45" idx="0"/>
              </p:cNvCxnSpPr>
              <p:nvPr/>
            </p:nvCxnSpPr>
            <p:spPr>
              <a:xfrm>
                <a:off x="3289042" y="2557145"/>
                <a:ext cx="0" cy="162827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stCxn id="42" idx="4"/>
                <a:endCxn id="44" idx="1"/>
              </p:cNvCxnSpPr>
              <p:nvPr/>
            </p:nvCxnSpPr>
            <p:spPr>
              <a:xfrm>
                <a:off x="3559629" y="2127380"/>
                <a:ext cx="196479" cy="1722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44" idx="2"/>
                <a:endCxn id="43" idx="6"/>
              </p:cNvCxnSpPr>
              <p:nvPr/>
            </p:nvCxnSpPr>
            <p:spPr>
              <a:xfrm flipH="1">
                <a:off x="3424335" y="2406267"/>
                <a:ext cx="292146" cy="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stCxn id="43" idx="5"/>
                <a:endCxn id="46" idx="1"/>
              </p:cNvCxnSpPr>
              <p:nvPr/>
            </p:nvCxnSpPr>
            <p:spPr>
              <a:xfrm>
                <a:off x="3384708" y="2512954"/>
                <a:ext cx="371400" cy="2512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/>
            <p:cNvSpPr txBox="1"/>
            <p:nvPr/>
          </p:nvSpPr>
          <p:spPr>
            <a:xfrm>
              <a:off x="8633120" y="3235638"/>
              <a:ext cx="15675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Inferring GRN 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9920272" y="3711184"/>
            <a:ext cx="1444420" cy="90908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inferred and target GRNs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6250987" y="4158010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8194865" y="4165726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9564758" y="4165726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2" idx="2"/>
            <a:endCxn id="25" idx="1"/>
          </p:cNvCxnSpPr>
          <p:nvPr/>
        </p:nvCxnSpPr>
        <p:spPr>
          <a:xfrm>
            <a:off x="3820245" y="3595442"/>
            <a:ext cx="992479" cy="51792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965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" y="0"/>
            <a:ext cx="45720" cy="6858000"/>
          </a:xfrm>
          <a:prstGeom prst="rect">
            <a:avLst/>
          </a:prstGeom>
          <a:solidFill>
            <a:srgbClr val="55B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727" y="369455"/>
            <a:ext cx="1076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7602" y="1624736"/>
          <a:ext cx="1888108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2027">
                  <a:extLst>
                    <a:ext uri="{9D8B030D-6E8A-4147-A177-3AD203B41FA5}">
                      <a16:colId xmlns:a16="http://schemas.microsoft.com/office/drawing/2014/main" val="123228958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3514433516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2130721428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981942673"/>
                    </a:ext>
                  </a:extLst>
                </a:gridCol>
              </a:tblGrid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733805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29139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04995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912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1825625"/>
          <a:ext cx="1888108" cy="14630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472027">
                  <a:extLst>
                    <a:ext uri="{9D8B030D-6E8A-4147-A177-3AD203B41FA5}">
                      <a16:colId xmlns:a16="http://schemas.microsoft.com/office/drawing/2014/main" val="1126774021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2358157141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3502989104"/>
                    </a:ext>
                  </a:extLst>
                </a:gridCol>
                <a:gridCol w="472027">
                  <a:extLst>
                    <a:ext uri="{9D8B030D-6E8A-4147-A177-3AD203B41FA5}">
                      <a16:colId xmlns:a16="http://schemas.microsoft.com/office/drawing/2014/main" val="950666769"/>
                    </a:ext>
                  </a:extLst>
                </a:gridCol>
              </a:tblGrid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450802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504274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173597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3024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98482" y="3362596"/>
            <a:ext cx="156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Expression Matrix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36473" y="1789166"/>
            <a:ext cx="1567543" cy="1806276"/>
            <a:chOff x="2972336" y="1825625"/>
            <a:chExt cx="1567543" cy="1806276"/>
          </a:xfrm>
        </p:grpSpPr>
        <p:grpSp>
          <p:nvGrpSpPr>
            <p:cNvPr id="11" name="Group 10"/>
            <p:cNvGrpSpPr/>
            <p:nvPr/>
          </p:nvGrpSpPr>
          <p:grpSpPr>
            <a:xfrm>
              <a:off x="3153748" y="1825625"/>
              <a:ext cx="833320" cy="1196102"/>
              <a:chOff x="3153748" y="1825625"/>
              <a:chExt cx="833320" cy="1196102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3424335" y="1825625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3153748" y="2255390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716481" y="2255389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153748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716481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Straight Arrow Connector 17"/>
              <p:cNvCxnSpPr>
                <a:stCxn id="13" idx="4"/>
                <a:endCxn id="14" idx="7"/>
              </p:cNvCxnSpPr>
              <p:nvPr/>
            </p:nvCxnSpPr>
            <p:spPr>
              <a:xfrm flipH="1">
                <a:off x="3384708" y="2127380"/>
                <a:ext cx="174921" cy="172201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stCxn id="14" idx="4"/>
                <a:endCxn id="16" idx="0"/>
              </p:cNvCxnSpPr>
              <p:nvPr/>
            </p:nvCxnSpPr>
            <p:spPr>
              <a:xfrm>
                <a:off x="3289042" y="2557145"/>
                <a:ext cx="0" cy="162827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13" idx="4"/>
                <a:endCxn id="15" idx="1"/>
              </p:cNvCxnSpPr>
              <p:nvPr/>
            </p:nvCxnSpPr>
            <p:spPr>
              <a:xfrm>
                <a:off x="3559629" y="2127380"/>
                <a:ext cx="196479" cy="1722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15" idx="2"/>
                <a:endCxn id="14" idx="6"/>
              </p:cNvCxnSpPr>
              <p:nvPr/>
            </p:nvCxnSpPr>
            <p:spPr>
              <a:xfrm flipH="1">
                <a:off x="3424335" y="2406267"/>
                <a:ext cx="292146" cy="1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14" idx="5"/>
                <a:endCxn id="17" idx="1"/>
              </p:cNvCxnSpPr>
              <p:nvPr/>
            </p:nvCxnSpPr>
            <p:spPr>
              <a:xfrm>
                <a:off x="3384708" y="2512954"/>
                <a:ext cx="371400" cy="251209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2972336" y="3201014"/>
              <a:ext cx="15675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GRN and Difference Network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2848757" y="2563934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4604016" y="3624206"/>
            <a:ext cx="2411238" cy="1695879"/>
            <a:chOff x="4331171" y="2043404"/>
            <a:chExt cx="2411238" cy="1695879"/>
          </a:xfrm>
        </p:grpSpPr>
        <p:sp>
          <p:nvSpPr>
            <p:cNvPr id="25" name="Rounded Rectangle 24"/>
            <p:cNvSpPr/>
            <p:nvPr/>
          </p:nvSpPr>
          <p:spPr>
            <a:xfrm>
              <a:off x="4539879" y="2043404"/>
              <a:ext cx="1296955" cy="978323"/>
            </a:xfrm>
            <a:prstGeom prst="round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 rot="16200000">
              <a:off x="4868373" y="2052277"/>
              <a:ext cx="623679" cy="986701"/>
              <a:chOff x="3989965" y="4562605"/>
              <a:chExt cx="833320" cy="1196102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4260552" y="4562605"/>
                <a:ext cx="270587" cy="301755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989965" y="4992370"/>
                <a:ext cx="270587" cy="30175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552698" y="4992369"/>
                <a:ext cx="270587" cy="301755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3989965" y="5456952"/>
                <a:ext cx="270587" cy="301755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4552698" y="5456952"/>
                <a:ext cx="270587" cy="301755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Straight Arrow Connector 32"/>
              <p:cNvCxnSpPr>
                <a:stCxn id="28" idx="4"/>
                <a:endCxn id="29" idx="7"/>
              </p:cNvCxnSpPr>
              <p:nvPr/>
            </p:nvCxnSpPr>
            <p:spPr>
              <a:xfrm flipH="1">
                <a:off x="4220925" y="4864360"/>
                <a:ext cx="174921" cy="17220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29" idx="4"/>
                <a:endCxn id="31" idx="0"/>
              </p:cNvCxnSpPr>
              <p:nvPr/>
            </p:nvCxnSpPr>
            <p:spPr>
              <a:xfrm>
                <a:off x="4125259" y="5294125"/>
                <a:ext cx="0" cy="162827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4395846" y="4864361"/>
                <a:ext cx="196479" cy="1722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>
                <a:stCxn id="30" idx="4"/>
                <a:endCxn id="32" idx="0"/>
              </p:cNvCxnSpPr>
              <p:nvPr/>
            </p:nvCxnSpPr>
            <p:spPr>
              <a:xfrm rot="5400000">
                <a:off x="4606578" y="5375538"/>
                <a:ext cx="162828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9" idx="5"/>
                <a:endCxn id="32" idx="1"/>
              </p:cNvCxnSpPr>
              <p:nvPr/>
            </p:nvCxnSpPr>
            <p:spPr>
              <a:xfrm>
                <a:off x="4220925" y="5249934"/>
                <a:ext cx="371400" cy="2512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Rectangle 26"/>
            <p:cNvSpPr/>
            <p:nvPr/>
          </p:nvSpPr>
          <p:spPr>
            <a:xfrm>
              <a:off x="4331171" y="3139119"/>
              <a:ext cx="2411238" cy="6001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Estimation of Gene Expression</a:t>
              </a:r>
            </a:p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Regulatory Coefficients Assuming </a:t>
              </a:r>
            </a:p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Non-linear relationship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676688" y="3693445"/>
            <a:ext cx="1444420" cy="90908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TFs and genes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8619756" y="3509195"/>
            <a:ext cx="1567543" cy="1582345"/>
            <a:chOff x="8633120" y="1914903"/>
            <a:chExt cx="1567543" cy="1582345"/>
          </a:xfrm>
        </p:grpSpPr>
        <p:grpSp>
          <p:nvGrpSpPr>
            <p:cNvPr id="40" name="Group 39"/>
            <p:cNvGrpSpPr/>
            <p:nvPr/>
          </p:nvGrpSpPr>
          <p:grpSpPr>
            <a:xfrm>
              <a:off x="8633120" y="1914903"/>
              <a:ext cx="833320" cy="1196102"/>
              <a:chOff x="3153748" y="1825625"/>
              <a:chExt cx="833320" cy="1196102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424335" y="1825625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153748" y="2255390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716481" y="2255389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3153748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716481" y="2719972"/>
                <a:ext cx="270587" cy="30175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Straight Arrow Connector 46"/>
              <p:cNvCxnSpPr>
                <a:stCxn id="42" idx="4"/>
                <a:endCxn id="43" idx="7"/>
              </p:cNvCxnSpPr>
              <p:nvPr/>
            </p:nvCxnSpPr>
            <p:spPr>
              <a:xfrm flipH="1">
                <a:off x="3384708" y="2127380"/>
                <a:ext cx="174921" cy="17220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stCxn id="43" idx="4"/>
                <a:endCxn id="45" idx="0"/>
              </p:cNvCxnSpPr>
              <p:nvPr/>
            </p:nvCxnSpPr>
            <p:spPr>
              <a:xfrm>
                <a:off x="3289042" y="2557145"/>
                <a:ext cx="0" cy="162827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stCxn id="42" idx="4"/>
                <a:endCxn id="44" idx="1"/>
              </p:cNvCxnSpPr>
              <p:nvPr/>
            </p:nvCxnSpPr>
            <p:spPr>
              <a:xfrm>
                <a:off x="3559629" y="2127380"/>
                <a:ext cx="196479" cy="1722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44" idx="2"/>
                <a:endCxn id="43" idx="6"/>
              </p:cNvCxnSpPr>
              <p:nvPr/>
            </p:nvCxnSpPr>
            <p:spPr>
              <a:xfrm flipH="1">
                <a:off x="3424335" y="2406267"/>
                <a:ext cx="292146" cy="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stCxn id="43" idx="5"/>
                <a:endCxn id="46" idx="1"/>
              </p:cNvCxnSpPr>
              <p:nvPr/>
            </p:nvCxnSpPr>
            <p:spPr>
              <a:xfrm>
                <a:off x="3384708" y="2512954"/>
                <a:ext cx="371400" cy="251209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/>
            <p:cNvSpPr txBox="1"/>
            <p:nvPr/>
          </p:nvSpPr>
          <p:spPr>
            <a:xfrm>
              <a:off x="8633120" y="3235638"/>
              <a:ext cx="15675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Inferring GRN 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9920272" y="3711184"/>
            <a:ext cx="1444420" cy="90908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inferred and target GRNs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6250987" y="4158010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8194865" y="4165726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9564758" y="4165726"/>
            <a:ext cx="355514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2" idx="2"/>
            <a:endCxn id="25" idx="1"/>
          </p:cNvCxnSpPr>
          <p:nvPr/>
        </p:nvCxnSpPr>
        <p:spPr>
          <a:xfrm>
            <a:off x="3820245" y="3595442"/>
            <a:ext cx="992479" cy="51792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4161890" y="2727704"/>
            <a:ext cx="2690462" cy="3142151"/>
          </a:xfrm>
          <a:prstGeom prst="ellipse">
            <a:avLst/>
          </a:prstGeom>
          <a:noFill/>
          <a:ln w="28575">
            <a:solidFill>
              <a:srgbClr val="C7A5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 flipH="1">
            <a:off x="6155398" y="1825625"/>
            <a:ext cx="3764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Parameterized regression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09678" y="1605003"/>
            <a:ext cx="3579753" cy="764805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Curved Connector 59"/>
          <p:cNvCxnSpPr>
            <a:stCxn id="58" idx="1"/>
          </p:cNvCxnSpPr>
          <p:nvPr/>
        </p:nvCxnSpPr>
        <p:spPr>
          <a:xfrm rot="10800000" flipV="1">
            <a:off x="5526706" y="1987406"/>
            <a:ext cx="582972" cy="622906"/>
          </a:xfrm>
          <a:prstGeom prst="curved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797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Discussion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823457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3820" y="-7620"/>
            <a:ext cx="121920" cy="6949440"/>
            <a:chOff x="11982450" y="-7620"/>
            <a:chExt cx="121920" cy="6949440"/>
          </a:xfrm>
        </p:grpSpPr>
        <p:sp>
          <p:nvSpPr>
            <p:cNvPr id="8" name="Rectangle 7"/>
            <p:cNvSpPr/>
            <p:nvPr/>
          </p:nvSpPr>
          <p:spPr>
            <a:xfrm>
              <a:off x="12058650" y="0"/>
              <a:ext cx="45720" cy="685800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1982450" y="-7620"/>
              <a:ext cx="45720" cy="694944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727" y="369455"/>
            <a:ext cx="8768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cs typeface="Segoe UI Semilight"/>
              </a:rPr>
              <a:t>Dataset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692727" y="1719244"/>
            <a:ext cx="110500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Hypoplastic</a:t>
            </a:r>
            <a:r>
              <a:rPr lang="en-US" sz="2400" dirty="0"/>
              <a:t> Left Heart Syndrome (HLHS) RNA-</a:t>
            </a:r>
            <a:r>
              <a:rPr lang="en-US" sz="2400" dirty="0" err="1"/>
              <a:t>seq</a:t>
            </a:r>
            <a:r>
              <a:rPr lang="en-US" sz="2400" dirty="0"/>
              <a:t> data: Gene expression data from Omnibus GSE146341.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Progression of Neurodegeneration in Mouse Model RNA-</a:t>
            </a:r>
            <a:r>
              <a:rPr lang="en-US" sz="2400" dirty="0" err="1"/>
              <a:t>seq</a:t>
            </a:r>
            <a:r>
              <a:rPr lang="en-US" sz="2400" dirty="0"/>
              <a:t> data: Gene expression data from Omnibus GSE103334.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Saccharomyces cerevisiae RNA-</a:t>
            </a:r>
            <a:r>
              <a:rPr lang="en-US" sz="2400" dirty="0" err="1"/>
              <a:t>seq</a:t>
            </a:r>
            <a:r>
              <a:rPr lang="en-US" sz="2400" dirty="0"/>
              <a:t> data: Gene expression data from Omnibus GSM3564448 and Omnibus GSM4039308 .</a:t>
            </a:r>
          </a:p>
        </p:txBody>
      </p:sp>
    </p:spTree>
    <p:extLst>
      <p:ext uri="{BB962C8B-B14F-4D97-AF65-F5344CB8AC3E}">
        <p14:creationId xmlns:p14="http://schemas.microsoft.com/office/powerpoint/2010/main" val="1507784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3820" y="-7620"/>
            <a:ext cx="121920" cy="6949440"/>
            <a:chOff x="11982450" y="-7620"/>
            <a:chExt cx="121920" cy="6949440"/>
          </a:xfrm>
        </p:grpSpPr>
        <p:sp>
          <p:nvSpPr>
            <p:cNvPr id="8" name="Rectangle 7"/>
            <p:cNvSpPr/>
            <p:nvPr/>
          </p:nvSpPr>
          <p:spPr>
            <a:xfrm>
              <a:off x="12058650" y="0"/>
              <a:ext cx="45720" cy="685800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1982450" y="-7620"/>
              <a:ext cx="45720" cy="694944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727" y="369455"/>
            <a:ext cx="8768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Hypoplastic</a:t>
            </a:r>
            <a:r>
              <a:rPr lang="en-US" sz="3600" dirty="0"/>
              <a:t> Left Heart Syndrome</a:t>
            </a:r>
          </a:p>
        </p:txBody>
      </p:sp>
    </p:spTree>
    <p:extLst>
      <p:ext uri="{BB962C8B-B14F-4D97-AF65-F5344CB8AC3E}">
        <p14:creationId xmlns:p14="http://schemas.microsoft.com/office/powerpoint/2010/main" val="1826674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3820" y="-7620"/>
            <a:ext cx="121920" cy="6949440"/>
            <a:chOff x="11982450" y="-7620"/>
            <a:chExt cx="121920" cy="6949440"/>
          </a:xfrm>
        </p:grpSpPr>
        <p:sp>
          <p:nvSpPr>
            <p:cNvPr id="8" name="Rectangle 7"/>
            <p:cNvSpPr/>
            <p:nvPr/>
          </p:nvSpPr>
          <p:spPr>
            <a:xfrm>
              <a:off x="12058650" y="0"/>
              <a:ext cx="45720" cy="685800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1982450" y="-7620"/>
              <a:ext cx="45720" cy="694944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727" y="369455"/>
            <a:ext cx="8768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Progression of Neurodegeneration</a:t>
            </a:r>
          </a:p>
        </p:txBody>
      </p:sp>
    </p:spTree>
    <p:extLst>
      <p:ext uri="{BB962C8B-B14F-4D97-AF65-F5344CB8AC3E}">
        <p14:creationId xmlns:p14="http://schemas.microsoft.com/office/powerpoint/2010/main" val="292967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930548">
            <a:off x="10022176" y="3753712"/>
            <a:ext cx="2834553" cy="4258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-148590"/>
            <a:ext cx="182880" cy="7143750"/>
          </a:xfrm>
          <a:prstGeom prst="rect">
            <a:avLst/>
          </a:prstGeom>
          <a:solidFill>
            <a:srgbClr val="55B1C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7" y="369455"/>
            <a:ext cx="3297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Outline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71157" y="1803054"/>
            <a:ext cx="86791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Discussion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706224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rot="5400000">
            <a:off x="5970270" y="278130"/>
            <a:ext cx="125730" cy="12576810"/>
            <a:chOff x="11982450" y="-7620"/>
            <a:chExt cx="121920" cy="6949440"/>
          </a:xfrm>
        </p:grpSpPr>
        <p:sp>
          <p:nvSpPr>
            <p:cNvPr id="9" name="Rectangle 8"/>
            <p:cNvSpPr/>
            <p:nvPr/>
          </p:nvSpPr>
          <p:spPr>
            <a:xfrm>
              <a:off x="12058650" y="0"/>
              <a:ext cx="45720" cy="685800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982450" y="-7620"/>
              <a:ext cx="45720" cy="694944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6" y="369455"/>
            <a:ext cx="1136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Future Work</a:t>
            </a:r>
          </a:p>
        </p:txBody>
      </p:sp>
      <p:sp>
        <p:nvSpPr>
          <p:cNvPr id="2" name="Rectangle 1"/>
          <p:cNvSpPr/>
          <p:nvPr/>
        </p:nvSpPr>
        <p:spPr>
          <a:xfrm>
            <a:off x="692726" y="1451403"/>
            <a:ext cx="1043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Abc</a:t>
            </a: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28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rot="5400000">
            <a:off x="5970270" y="278130"/>
            <a:ext cx="125730" cy="12576810"/>
            <a:chOff x="11982450" y="-7620"/>
            <a:chExt cx="121920" cy="6949440"/>
          </a:xfrm>
        </p:grpSpPr>
        <p:sp>
          <p:nvSpPr>
            <p:cNvPr id="9" name="Rectangle 8"/>
            <p:cNvSpPr/>
            <p:nvPr/>
          </p:nvSpPr>
          <p:spPr>
            <a:xfrm>
              <a:off x="12058650" y="0"/>
              <a:ext cx="45720" cy="685800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982450" y="-7620"/>
              <a:ext cx="45720" cy="6949440"/>
            </a:xfrm>
            <a:prstGeom prst="rect">
              <a:avLst/>
            </a:prstGeom>
            <a:solidFill>
              <a:srgbClr val="55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1"/>
          <p:cNvSpPr txBox="1">
            <a:spLocks/>
          </p:cNvSpPr>
          <p:nvPr/>
        </p:nvSpPr>
        <p:spPr>
          <a:xfrm>
            <a:off x="10749149" y="6572885"/>
            <a:ext cx="131202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/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726" y="369455"/>
            <a:ext cx="1136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cs typeface="Segoe UI Semilight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BF7FA-1D0D-F782-2000-B491470831EA}"/>
              </a:ext>
            </a:extLst>
          </p:cNvPr>
          <p:cNvSpPr txBox="1"/>
          <p:nvPr/>
        </p:nvSpPr>
        <p:spPr>
          <a:xfrm>
            <a:off x="767914" y="1354999"/>
            <a:ext cx="1066834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Hjhj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endParaRPr lang="en-US" sz="2000" dirty="0">
              <a:cs typeface="Segoe UI Semi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74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z="1400" smtClean="0"/>
              <a:t>28</a:t>
            </a:fld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926883" y="2621483"/>
            <a:ext cx="47484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aseline="-25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1342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FDA5-BD48-4396-BFE1-A7B28BAD287C}" type="slidenum">
              <a:rPr lang="en-US" sz="1400" smtClean="0"/>
              <a:t>29</a:t>
            </a:fld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106270" y="1586059"/>
            <a:ext cx="65776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aseline="-25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ANY</a:t>
            </a:r>
            <a:r>
              <a:rPr lang="en-US" sz="9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QUESTION?</a:t>
            </a:r>
            <a:endParaRPr lang="en-US" sz="9600" baseline="-25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9887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5">
      <a:majorFont>
        <a:latin typeface="Segoe UI Semilight"/>
        <a:ea typeface=""/>
        <a:cs typeface=""/>
      </a:majorFont>
      <a:minorFont>
        <a:latin typeface="Segoe UI Semilight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2590</TotalTime>
  <Words>1176</Words>
  <Application>Microsoft Office PowerPoint</Application>
  <PresentationFormat>Widescreen</PresentationFormat>
  <Paragraphs>176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Segoe UI Semilight</vt:lpstr>
      <vt:lpstr>Times New Roman</vt:lpstr>
      <vt:lpstr>Retrospect</vt:lpstr>
      <vt:lpstr>MACHINE LEARNING ASSISTED  GENE EXPRESSION RESTORATION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RESTler Code Base</dc:title>
  <dc:creator>Binary Gadget</dc:creator>
  <cp:lastModifiedBy>1905065 - Arnab Bhattacharjee</cp:lastModifiedBy>
  <cp:revision>215</cp:revision>
  <dcterms:created xsi:type="dcterms:W3CDTF">2024-01-18T20:10:54Z</dcterms:created>
  <dcterms:modified xsi:type="dcterms:W3CDTF">2025-12-07T19:37:31Z</dcterms:modified>
</cp:coreProperties>
</file>